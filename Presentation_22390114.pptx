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38DBA3-CAC5-4B01-8653-23D732E859BD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7922C-63DB-4C77-AF17-7D28A09C5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9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Άνοιγμα: θέμα, dataset και στόχος πρόβλεψης αποδοχής προθεσμιακής κατάθεσης.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Εξήγηση της ροής εργασίας και γιατί το F1 είναι σημαντικό λόγω ανισορροπίας.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Παρουσίαση του dataset, του target και του λόγου που αφαιρέθηκε το duration.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Περιγραφή preprocessing με έμφαση στο duration και στην ανισορροπία.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Δείχνουμε το imbalance και την ηλικιακή κατανομή.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Εξηγούμε τη σύνδεση των γραφημάτων EDA με επιχειρησιακά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Εξηγούμε τα μοντέλα και γιατί δεν βασιζόμαστε μόνο στο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Δίνουμε τα πραγματικά αποτελέσματα και τονίζουμε Decision Tree με F1-score.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Σύντομη ερμηνεία confusion matrix και ROC.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Σύνδεση K-Means με πρακτική τμηματοποίηση πελατών.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Κλείσιμο: Spark, τελική επιλογή μοντέλου και πρακτική αξία.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712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154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class.uniwa.gr/courses/ICE359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A8E9E"/>
          </a:solidFill>
          <a:ln w="12700">
            <a:solidFill>
              <a:srgbClr val="3A8E9E">
                <a:alpha val="0"/>
              </a:srgbClr>
            </a:solidFill>
            <a:prstDash val="solid"/>
          </a:ln>
        </p:spPr>
      </p:sp>
      <p:pic>
        <p:nvPicPr>
          <p:cNvPr id="3" name="Image 0" descr="/mnt/data/docx_extract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8589"/>
            <a:ext cx="2560320" cy="25489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91440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4"/>
              </a:rPr>
              <a:t>Δι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  <a:hlinkClick r:id="rId4"/>
              </a:rPr>
              <a:t>αχείριση Δεδομένων Μεγάλης Κλίμακας</a:t>
            </a:r>
          </a:p>
        </p:txBody>
      </p:sp>
      <p:sp>
        <p:nvSpPr>
          <p:cNvPr id="5" name="Text 2"/>
          <p:cNvSpPr/>
          <p:nvPr/>
        </p:nvSpPr>
        <p:spPr>
          <a:xfrm>
            <a:off x="658368" y="146304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Πρόβλεψη Εγγραφής Πελατών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σε Τραπεζική Προθεσμιακή Κατάθεση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29077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Bank Marketing Dataset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85800" y="3401568"/>
            <a:ext cx="5029200" cy="0"/>
          </a:xfrm>
          <a:prstGeom prst="line">
            <a:avLst/>
          </a:prstGeom>
          <a:noFill/>
          <a:ln w="25400">
            <a:solidFill>
              <a:srgbClr val="D8A2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74904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Ζαχαρίας Κυριακέας (22390114)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Πανεπιστήμιο Δυτικής Αττικής - ICE-359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11/6/2026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85800" y="5074920"/>
            <a:ext cx="6583680" cy="731520"/>
          </a:xfrm>
          <a:prstGeom prst="roundRect">
            <a:avLst>
              <a:gd name="adj" fmla="val 15000"/>
            </a:avLst>
          </a:prstGeom>
          <a:solidFill>
            <a:srgbClr val="EAF3F5"/>
          </a:solidFill>
          <a:ln w="12700">
            <a:solidFill>
              <a:srgbClr val="EAF3F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5239512"/>
            <a:ext cx="625449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End-to-end ανάλυση με preprocessing, EDA, classification, clustering και PySpark.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8E9E"/>
          </a:solidFill>
          <a:ln w="12700">
            <a:solidFill>
              <a:srgbClr val="3A8E9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Στόχος &amp; ροή υλοποίησης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Project overview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Big Data &amp; Data Mining Project · Bank Marketing Dataset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solidFill>
            <a:srgbClr val="0B2F49"/>
          </a:solidFill>
          <a:ln>
            <a:solidFill>
              <a:srgbClr val="0B2F4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Στόχος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47548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Πρόβλεψη αν ο πελάτης θα αποδεχθεί προθεσμιακή κατάθεση.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Ανάλυση πραγματικών δεδομένων τραπεζικής καμπάνιας.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Σύγκριση μοντέλων με metrics κατάλληλα για imbalanced dataset.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67712" y="4443984"/>
            <a:ext cx="566928" cy="0"/>
          </a:xfrm>
          <a:prstGeom prst="line">
            <a:avLst/>
          </a:prstGeom>
          <a:noFill/>
          <a:ln w="17780">
            <a:solidFill>
              <a:srgbClr val="C8DC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43984" y="4443984"/>
            <a:ext cx="566928" cy="0"/>
          </a:xfrm>
          <a:prstGeom prst="line">
            <a:avLst/>
          </a:prstGeom>
          <a:noFill/>
          <a:ln w="17780">
            <a:solidFill>
              <a:srgbClr val="C8DCE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20256" y="4443984"/>
            <a:ext cx="566928" cy="0"/>
          </a:xfrm>
          <a:prstGeom prst="line">
            <a:avLst/>
          </a:prstGeom>
          <a:noFill/>
          <a:ln w="17780">
            <a:solidFill>
              <a:srgbClr val="C8DCE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96528" y="4443984"/>
            <a:ext cx="566928" cy="0"/>
          </a:xfrm>
          <a:prstGeom prst="line">
            <a:avLst/>
          </a:prstGeom>
          <a:noFill/>
          <a:ln w="17780">
            <a:solidFill>
              <a:srgbClr val="C8DCE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232" y="4069080"/>
            <a:ext cx="1554480" cy="749808"/>
          </a:xfrm>
          <a:prstGeom prst="roundRect">
            <a:avLst>
              <a:gd name="adj" fmla="val 14634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18795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Preprocessing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6384" y="446227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cleaning · encoding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889504" y="4069080"/>
            <a:ext cx="1554480" cy="749808"/>
          </a:xfrm>
          <a:prstGeom prst="roundRect">
            <a:avLst>
              <a:gd name="adj" fmla="val 14634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62656" y="418795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EDA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962656" y="446227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insights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5776" y="4069080"/>
            <a:ext cx="1554480" cy="749808"/>
          </a:xfrm>
          <a:prstGeom prst="roundRect">
            <a:avLst>
              <a:gd name="adj" fmla="val 14634"/>
            </a:avLst>
          </a:prstGeom>
          <a:solidFill>
            <a:srgbClr val="0B2F49"/>
          </a:solidFill>
          <a:ln w="12700">
            <a:solidFill>
              <a:srgbClr val="0B2F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418795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38928" y="446227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C9D9E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classification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242048" y="4069080"/>
            <a:ext cx="1554480" cy="749808"/>
          </a:xfrm>
          <a:prstGeom prst="roundRect">
            <a:avLst>
              <a:gd name="adj" fmla="val 14634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418795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Clustering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0" y="446227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K-Means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418320" y="4069080"/>
            <a:ext cx="1554480" cy="749808"/>
          </a:xfrm>
          <a:prstGeom prst="roundRect">
            <a:avLst>
              <a:gd name="adj" fmla="val 14634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91472" y="418795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Big Data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491472" y="446227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PySpark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37960" y="1298448"/>
            <a:ext cx="4663440" cy="1078992"/>
          </a:xfrm>
          <a:prstGeom prst="roundRect">
            <a:avLst>
              <a:gd name="adj" fmla="val 10169"/>
            </a:avLst>
          </a:prstGeom>
          <a:solidFill>
            <a:srgbClr val="FFF3D6"/>
          </a:solidFill>
          <a:ln w="12700">
            <a:solidFill>
              <a:srgbClr val="FFF3D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2552" y="1426464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Κρίσιμη παρατήρηση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02552" y="1700784"/>
            <a:ext cx="43342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Κεντρική ιδέα: δεν αρκεί να έχουμε υψηλό Accuracy όταν η κλάση “yes” είναι μικρή.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37960" y="2788920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EAF3F5"/>
          </a:solidFill>
          <a:ln w="12700">
            <a:solidFill>
              <a:srgbClr val="EAF3F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02552" y="2916936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Κριτήριο επιλογής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02552" y="3191256"/>
            <a:ext cx="43342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Το καλύτερο scikit-learn μοντέλο επιλέγεται με βάση το F1-score και όχι μόνο το Accuracy.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8E9E"/>
          </a:solidFill>
          <a:ln w="12700">
            <a:solidFill>
              <a:srgbClr val="3A8E9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Dataset: Bank Marketing Dataset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Data understanding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Big Data &amp; Data Mining Project · Bank Marketing Dataset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solidFill>
            <a:srgbClr val="0B2F49"/>
          </a:solidFill>
          <a:ln>
            <a:solidFill>
              <a:srgbClr val="0B2F4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6720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9" name="Image 0" descr="/mnt/data/66731ab3-b615-41a7-aea8-f9c62fca87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402724"/>
            <a:ext cx="6574536" cy="98931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670048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Πρώτες γραμμές του dataset στο notebook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818120" y="1234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A8E9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41.188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18120" y="1673352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εγγραφές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89720" y="1234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A8E9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20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189720" y="1673352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input variables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561320" y="12344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D8A2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561320" y="16733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target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18120" y="2240280"/>
            <a:ext cx="37490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Πηγή: τηλεφωνικές καμπάνιες marketing πορτογαλικής τράπεζας.</a:t>
            </a:r>
            <a:endParaRPr kumimoji="0" lang="en-US" sz="13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Target: y = yes/no για αποδοχή προθεσμιακής κατάθεσης.</a:t>
            </a:r>
            <a:endParaRPr kumimoji="0" lang="en-US" sz="13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Χαρακτηριστικά: age, job, education, housing, loan, campaign, pdays, previous, poutcome.</a:t>
            </a:r>
            <a:endParaRPr kumimoji="0" lang="en-US" sz="13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Η μεταβλητή duration αφαιρείται για αποφυγή data leakage.</a:t>
            </a:r>
            <a:endParaRPr kumimoji="0" lang="en-US" sz="13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85800" y="3767328"/>
            <a:ext cx="6720840" cy="640080"/>
          </a:xfrm>
          <a:prstGeom prst="roundRect">
            <a:avLst>
              <a:gd name="adj" fmla="val 17143"/>
            </a:avLst>
          </a:prstGeom>
          <a:solidFill>
            <a:srgbClr val="EAF3F5"/>
          </a:solidFill>
          <a:ln w="12700">
            <a:solidFill>
              <a:srgbClr val="EAF3F5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" y="3931920"/>
            <a:ext cx="63916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Το πρόβλημα είναι δυαδική ταξινόμηση: 0 = no, 1 = yes.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909560" y="4572000"/>
            <a:ext cx="3108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21" name="Image 1" descr="/mnt/data/38592a0d-fd10-4d37-ad94-18d70ec190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194" y="4617720"/>
            <a:ext cx="671692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8E9E"/>
          </a:solidFill>
          <a:ln w="12700">
            <a:solidFill>
              <a:srgbClr val="3A8E9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 Preprocessing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Preparing the data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Big Data &amp; Data Mining Project · Bank Marketing Dataset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solidFill>
            <a:srgbClr val="0B2F49"/>
          </a:solidFill>
          <a:ln>
            <a:solidFill>
              <a:srgbClr val="0B2F4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Βήματα προετοιμασίας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480060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Μετατροπή target: no = 0, yes = 1.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Αφαίρεση duration για αποφυγή data leakage.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One-Hot Encoding στις κατηγορικές μεταβλητές.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StandardScaler στις αριθμητικές μεταβλητές.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Feature engineering: age_group, was_contacted_before, many_contacts.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03704" y="5340096"/>
            <a:ext cx="493776" cy="0"/>
          </a:xfrm>
          <a:prstGeom prst="line">
            <a:avLst/>
          </a:prstGeom>
          <a:noFill/>
          <a:ln w="16510">
            <a:solidFill>
              <a:srgbClr val="C8DCE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15384" y="5340096"/>
            <a:ext cx="493776" cy="0"/>
          </a:xfrm>
          <a:prstGeom prst="line">
            <a:avLst/>
          </a:prstGeom>
          <a:noFill/>
          <a:ln w="16510">
            <a:solidFill>
              <a:srgbClr val="C8DCE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27064" y="5340096"/>
            <a:ext cx="493776" cy="0"/>
          </a:xfrm>
          <a:prstGeom prst="line">
            <a:avLst/>
          </a:prstGeom>
          <a:noFill/>
          <a:ln w="16510">
            <a:solidFill>
              <a:srgbClr val="C8DCE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38744" y="5340096"/>
            <a:ext cx="493776" cy="0"/>
          </a:xfrm>
          <a:prstGeom prst="line">
            <a:avLst/>
          </a:prstGeom>
          <a:noFill/>
          <a:ln w="16510">
            <a:solidFill>
              <a:srgbClr val="C8DC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" y="498348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3D6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521208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Raw CSV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88920" y="498348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43784" y="521208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Cleaning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00600" y="498348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521208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Encoding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12280" y="498348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521208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Scaling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823960" y="498348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78824" y="521208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Train/Test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0" y="1188720"/>
            <a:ext cx="2377440" cy="30632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25" name="Image 0" descr="/mnt/data/38592a0d-fd10-4d37-ad94-18d70ec190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642" y="1234440"/>
            <a:ext cx="1505516" cy="2971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9372600" y="1389888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FFF3D6"/>
          </a:solidFill>
          <a:ln w="12700">
            <a:solidFill>
              <a:srgbClr val="FFF3D6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37192" y="1517904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Imbalanced data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537192" y="1792224"/>
            <a:ext cx="172821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Η αρχική κατανομή δείχνει έντονη ανισορροπία: περίπου 88,7% “no” και 11,3% “yes”.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9372600" y="306324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EAF3F5"/>
          </a:solidFill>
          <a:ln w="12700">
            <a:solidFill>
              <a:srgbClr val="EAF3F5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37192" y="3227832"/>
            <a:ext cx="172821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Γι’ αυτό η αξιολόγηση δεν βασίστηκε μόνο στο Accuracy.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8E9E"/>
          </a:solidFill>
          <a:ln w="12700">
            <a:solidFill>
              <a:srgbClr val="3A8E9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EDA: κατανομή στόχου &amp; ηλικία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Exploratory Data Analysis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Big Data &amp; Data Mining Project · Bank Marketing Dataset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solidFill>
            <a:srgbClr val="0B2F49"/>
          </a:solidFill>
          <a:ln>
            <a:solidFill>
              <a:srgbClr val="0B2F4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1097280"/>
            <a:ext cx="530352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9" name="Image 0" descr="/mnt/data/3ec81e1e-7848-449a-b8c1-537b687599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53" y="1188720"/>
            <a:ext cx="4503774" cy="2971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097280"/>
            <a:ext cx="5285232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11" name="Image 1" descr="/mnt/data/0d36bf13-3a57-4be2-900b-9a5c878717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29857"/>
            <a:ext cx="5102352" cy="24895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86384" y="4617719"/>
            <a:ext cx="5010912" cy="988996"/>
          </a:xfrm>
          <a:prstGeom prst="roundRect">
            <a:avLst>
              <a:gd name="adj" fmla="val 13953"/>
            </a:avLst>
          </a:prstGeom>
          <a:solidFill>
            <a:srgbClr val="FFF3D6"/>
          </a:solidFill>
          <a:ln w="12700">
            <a:solidFill>
              <a:srgbClr val="FFF3D6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50976" y="4703866"/>
            <a:ext cx="4681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Insight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950976" y="4975057"/>
            <a:ext cx="46817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Η πλειονότητα των πελατών δεν αποδέχεται την προσφορά. Άρα το Accuracy μπορεί να δώσει παραπλανητική εικόνα.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409944" y="4617720"/>
            <a:ext cx="4992624" cy="988996"/>
          </a:xfrm>
          <a:prstGeom prst="roundRect">
            <a:avLst>
              <a:gd name="adj" fmla="val 13953"/>
            </a:avLst>
          </a:prstGeom>
          <a:solidFill>
            <a:srgbClr val="EAF3F5"/>
          </a:solidFill>
          <a:ln w="12700">
            <a:solidFill>
              <a:srgbClr val="EAF3F5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74536" y="470386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Insight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574536" y="5079492"/>
            <a:ext cx="4663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Οι περισσότερες παρατηρήσεις συγκεντρώνονται περίπου στις ηλικίες 30–40, με μικρότερη παρουσία στις μεγαλύτερες ηλικίες.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8E9E"/>
          </a:solidFill>
          <a:ln w="12700">
            <a:solidFill>
              <a:srgbClr val="3A8E9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EDA: επάγγελμα &amp; συσχετίσεις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Exploratory Data Analysis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Big Data &amp; Data Mining Project · Bank Marketing Dataset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solidFill>
            <a:srgbClr val="0B2F49"/>
          </a:solidFill>
          <a:ln>
            <a:solidFill>
              <a:srgbClr val="0B2F4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1078992"/>
            <a:ext cx="5349240" cy="3456432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9" name="Image 0" descr="/mnt/data/c535707e-5df4-42c6-9073-6d5dce838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526876"/>
            <a:ext cx="5239512" cy="25606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078992"/>
            <a:ext cx="5349240" cy="3456432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11" name="Image 1" descr="/mnt/data/93d7c960-7ac2-4fa6-abec-7b0bbfa20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807" y="1133856"/>
            <a:ext cx="4610906" cy="33467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86384" y="4791456"/>
            <a:ext cx="5010912" cy="777240"/>
          </a:xfrm>
          <a:prstGeom prst="roundRect">
            <a:avLst>
              <a:gd name="adj" fmla="val 14118"/>
            </a:avLst>
          </a:prstGeom>
          <a:solidFill>
            <a:srgbClr val="FFF3D6"/>
          </a:solidFill>
          <a:ln w="12700">
            <a:solidFill>
              <a:srgbClr val="FFF3D6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50976" y="4919472"/>
            <a:ext cx="4681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Job insight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950976" y="5193792"/>
            <a:ext cx="468172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Οι φοιτητές και οι συνταξιούχοι εμφανίζουν υψηλότερο μέσο subscription rate.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409944" y="4791456"/>
            <a:ext cx="4992624" cy="777240"/>
          </a:xfrm>
          <a:prstGeom prst="roundRect">
            <a:avLst>
              <a:gd name="adj" fmla="val 14118"/>
            </a:avLst>
          </a:prstGeom>
          <a:solidFill>
            <a:srgbClr val="EAF3F5"/>
          </a:solidFill>
          <a:ln w="12700">
            <a:solidFill>
              <a:srgbClr val="EAF3F5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74536" y="491947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Correlation insight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574536" y="5193792"/>
            <a:ext cx="466344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Το heatmap δείχνει σχέσεις μεταξύ οικονομικών δεικτών και target, χρήσιμες πριν την εφαρμογή μοντέλων.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8E9E"/>
          </a:solidFill>
          <a:ln w="12700">
            <a:solidFill>
              <a:srgbClr val="3A8E9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Classification models &amp; metrics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Machine Learning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Big Data &amp; Data Mining Project · Bank Marketing Dataset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solidFill>
            <a:srgbClr val="0B2F49"/>
          </a:solidFill>
          <a:ln>
            <a:solidFill>
              <a:srgbClr val="0B2F4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Μοντέλα που υλοποιήθηκαν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13232" y="1691640"/>
            <a:ext cx="2487168" cy="713232"/>
          </a:xfrm>
          <a:prstGeom prst="roundRect">
            <a:avLst>
              <a:gd name="adj" fmla="val 15385"/>
            </a:avLst>
          </a:prstGeom>
          <a:solidFill>
            <a:srgbClr val="0B2F49"/>
          </a:solidFill>
          <a:ln w="12700">
            <a:solidFill>
              <a:srgbClr val="0B2F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2880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Decision Tree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08483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 dirty="0">
                <a:ln>
                  <a:noFill/>
                </a:ln>
                <a:solidFill>
                  <a:srgbClr val="D9E8F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Ερμηνεύσιμο baseline</a:t>
            </a:r>
            <a:endParaRPr kumimoji="0" lang="en-US" sz="8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84448" y="1691640"/>
            <a:ext cx="2487168" cy="713232"/>
          </a:xfrm>
          <a:prstGeom prst="roundRect">
            <a:avLst>
              <a:gd name="adj" fmla="val 15385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182880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Linear SVM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94176" y="208483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Κατάλληλο για one-hot features</a:t>
            </a:r>
            <a:endParaRPr kumimoji="0" lang="en-US" sz="8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3232" y="2852928"/>
            <a:ext cx="2487168" cy="713232"/>
          </a:xfrm>
          <a:prstGeom prst="roundRect">
            <a:avLst>
              <a:gd name="adj" fmla="val 15385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99008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Naive Bayes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324612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Γρήγορο probabilistic baseline</a:t>
            </a:r>
            <a:endParaRPr kumimoji="0" lang="en-US" sz="8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584448" y="2852928"/>
            <a:ext cx="2487168" cy="713232"/>
          </a:xfrm>
          <a:prstGeom prst="roundRect">
            <a:avLst>
              <a:gd name="adj" fmla="val 15385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94176" y="299008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Neural Network</a:t>
            </a:r>
            <a:endParaRPr kumimoji="0" lang="en-US" sz="12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94176" y="324612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Μη γραμμικά patterns</a:t>
            </a:r>
            <a:endParaRPr kumimoji="0" lang="en-US" sz="8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10972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Μετρικές αξιολόγησης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46520" y="1627632"/>
            <a:ext cx="484632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Accuracy: γενική ακρίβεια.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Precision: σωστές θετικές προβλέψεις.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Recall: εντοπισμός πραγματικών “yes”.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F1-score: ισορροπία Precision και Recall.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ROC-AUC: συνολική διαχωριστική ικανότητα.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4400" y="4919472"/>
            <a:ext cx="10241280" cy="658368"/>
          </a:xfrm>
          <a:prstGeom prst="roundRect">
            <a:avLst>
              <a:gd name="adj" fmla="val 16667"/>
            </a:avLst>
          </a:prstGeom>
          <a:solidFill>
            <a:srgbClr val="FFF3D6"/>
          </a:solidFill>
          <a:ln w="12700">
            <a:solidFill>
              <a:srgbClr val="FFF3D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047488"/>
            <a:ext cx="9912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Κεντρικό κριτήριο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78992" y="5321808"/>
            <a:ext cx="99120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Σε imbalanced dataset δόθηκε μεγαλύτερη σημασία στο F1-score και στο ROC-AUC.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8E9E"/>
          </a:solidFill>
          <a:ln w="12700">
            <a:solidFill>
              <a:srgbClr val="3A8E9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Αποτελέσματα &amp; επιλογή μοντέλου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 evaluation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Big Data &amp; Data Mining Project · Bank Marketing Dataset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solidFill>
            <a:srgbClr val="0B2F49"/>
          </a:solidFill>
          <a:ln>
            <a:solidFill>
              <a:srgbClr val="0B2F4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9" name="Image 0" descr="/mnt/data/dc04c698-9de4-4222-91a5-6c0c518193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4022"/>
            <a:ext cx="5257800" cy="15924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143000"/>
            <a:ext cx="52578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11" name="Image 1" descr="/mnt/data/d08545fc-c6c8-4597-bfe8-4e001ec0f0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329531"/>
            <a:ext cx="5111496" cy="250729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7240" y="3456432"/>
            <a:ext cx="5074920" cy="658368"/>
          </a:xfrm>
          <a:prstGeom prst="roundRect">
            <a:avLst>
              <a:gd name="adj" fmla="val 16667"/>
            </a:avLst>
          </a:prstGeom>
          <a:solidFill>
            <a:srgbClr val="EAF3F5"/>
          </a:solidFill>
          <a:ln w="12700">
            <a:solidFill>
              <a:srgbClr val="EAF3F5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41832" y="3584448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Τελική επιλογή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941832" y="3858768"/>
            <a:ext cx="47457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Καλύτερο scikit-learn μοντέλο: Decision Tree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097280" y="4663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A8E9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0.4669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097280" y="510235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F1-score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788920" y="4663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A8E9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0.6530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788920" y="510235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Recall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480560" y="4663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A8E9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0.789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480560" y="510235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ROC-AUC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492240" y="4407408"/>
            <a:ext cx="4800600" cy="1051560"/>
          </a:xfrm>
          <a:prstGeom prst="roundRect">
            <a:avLst>
              <a:gd name="adj" fmla="val 10435"/>
            </a:avLst>
          </a:prstGeom>
          <a:solidFill>
            <a:srgbClr val="FFF3D6"/>
          </a:solidFill>
          <a:ln w="12700">
            <a:solidFill>
              <a:srgbClr val="FFF3D6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56832" y="4535424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Γιατί όχι Accuracy μόνο;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6656832" y="4809744"/>
            <a:ext cx="447141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Το Neural Network είχε το υψηλότερο Accuracy, αλλά χαμηλό Recall και F1-score. Για αυτό δεν επιλέχθηκε ως καλύτερο.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8E9E"/>
          </a:solidFill>
          <a:ln w="12700">
            <a:solidFill>
              <a:srgbClr val="3A8E9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Decision Tree: confusion matrix &amp; ROC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Best scikit-learn model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Big Data &amp; Data Mining Project · Bank Marketing Dataset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solidFill>
            <a:srgbClr val="0B2F49"/>
          </a:solidFill>
          <a:ln>
            <a:solidFill>
              <a:srgbClr val="0B2F4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097280"/>
            <a:ext cx="521208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9" name="Image 0" descr="/mnt/data/902a066a-1089-4de3-b8f6-d090478f39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75" y="1188720"/>
            <a:ext cx="4694930" cy="3749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097280"/>
            <a:ext cx="530352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11" name="Image 1" descr="/mnt/data/8611c9a5-61b8-47be-8514-3bac864b7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388687"/>
            <a:ext cx="5120640" cy="33491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68680" y="5303520"/>
            <a:ext cx="4800600" cy="594360"/>
          </a:xfrm>
          <a:prstGeom prst="roundRect">
            <a:avLst>
              <a:gd name="adj" fmla="val 18462"/>
            </a:avLst>
          </a:prstGeom>
          <a:solidFill>
            <a:srgbClr val="EAF3F5"/>
          </a:solidFill>
          <a:ln w="12700">
            <a:solidFill>
              <a:srgbClr val="EAF3F5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33272" y="5468112"/>
            <a:ext cx="447141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Το μοντέλο εντοπίζει 606 πραγματικούς “yes” και χάνει 322.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46520" y="5303520"/>
            <a:ext cx="4892040" cy="594360"/>
          </a:xfrm>
          <a:prstGeom prst="roundRect">
            <a:avLst>
              <a:gd name="adj" fmla="val 18462"/>
            </a:avLst>
          </a:prstGeom>
          <a:solidFill>
            <a:srgbClr val="EAF3F5"/>
          </a:solidFill>
          <a:ln w="12700">
            <a:solidFill>
              <a:srgbClr val="EAF3F5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11112" y="5468112"/>
            <a:ext cx="456285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AUC ≈ 0.789: ικανοποιητική διαχωριστική ικανότητα για το πρόβλημα.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8E9E"/>
          </a:solidFill>
          <a:ln w="12700">
            <a:solidFill>
              <a:srgbClr val="3A8E9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Advanced technique: K-Means Clustering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Customer segmentation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Big Data &amp; Data Mining Project · Bank Marketing Dataset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solidFill>
            <a:srgbClr val="0B2F49"/>
          </a:solidFill>
          <a:ln>
            <a:solidFill>
              <a:srgbClr val="0B2F4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1069848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9" name="Image 0" descr="/mnt/data/ae36e5f6-2e6b-420c-aa1b-cbb544d595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26" y="1143000"/>
            <a:ext cx="3315949" cy="21854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16552" y="1069848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11" name="Image 1" descr="/mnt/data/bd64ec85-45bf-4e5e-b4cf-ce504f2ef5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352" y="1133856"/>
            <a:ext cx="3112041" cy="22037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705088" y="132588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13" name="Image 2" descr="/mnt/data/2d6b5d42-ed43-4d2b-baba-e121af6e9e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4" y="1443960"/>
            <a:ext cx="2441448" cy="99828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714232" y="2834639"/>
            <a:ext cx="2514600" cy="1021481"/>
          </a:xfrm>
          <a:prstGeom prst="roundRect">
            <a:avLst>
              <a:gd name="adj" fmla="val 14118"/>
            </a:avLst>
          </a:prstGeom>
          <a:solidFill>
            <a:srgbClr val="FFF3D6"/>
          </a:solidFill>
          <a:ln w="12700">
            <a:solidFill>
              <a:srgbClr val="FFF3D6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878824" y="2962656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Cluster analysis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878824" y="3317827"/>
            <a:ext cx="218541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Τα clusters συγκρίθηκαν ως προς το μέσο subscription rate.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14400" y="4297680"/>
            <a:ext cx="10332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Χρησιμοποιήθηκε K-Means για τμηματοποίηση πελατών.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Η PCA απεικόνιση δείχνει διαφορετικές ομάδες στο feature space.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Το cluster 1 παρουσιάζει αισθητά υψηλότερο subscription rate (~24,45%).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8E9E"/>
          </a:solidFill>
          <a:ln w="12700">
            <a:solidFill>
              <a:srgbClr val="3A8E9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Big Data προσέγγιση &amp; συμπεράσματα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5E6C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Big Data &amp; Data Mining Project · Bank Marketing Dataset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solidFill>
            <a:srgbClr val="0B2F49"/>
          </a:solidFill>
          <a:ln>
            <a:solidFill>
              <a:srgbClr val="0B2F4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115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PySpark Pipeline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47088" y="2130552"/>
            <a:ext cx="475488" cy="0"/>
          </a:xfrm>
          <a:prstGeom prst="line">
            <a:avLst/>
          </a:prstGeom>
          <a:noFill/>
          <a:ln w="15240">
            <a:solidFill>
              <a:srgbClr val="C8DCE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47288" y="2130552"/>
            <a:ext cx="475488" cy="0"/>
          </a:xfrm>
          <a:prstGeom prst="line">
            <a:avLst/>
          </a:prstGeom>
          <a:noFill/>
          <a:ln w="15240">
            <a:solidFill>
              <a:srgbClr val="C8DCE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47488" y="2130552"/>
            <a:ext cx="475488" cy="0"/>
          </a:xfrm>
          <a:prstGeom prst="line">
            <a:avLst/>
          </a:prstGeom>
          <a:noFill/>
          <a:ln w="15240">
            <a:solidFill>
              <a:srgbClr val="C8DCE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47688" y="2130552"/>
            <a:ext cx="475488" cy="0"/>
          </a:xfrm>
          <a:prstGeom prst="line">
            <a:avLst/>
          </a:prstGeom>
          <a:noFill/>
          <a:ln w="15240">
            <a:solidFill>
              <a:srgbClr val="C8DCE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7240" y="1773936"/>
            <a:ext cx="1060704" cy="713232"/>
          </a:xfrm>
          <a:prstGeom prst="roundRect">
            <a:avLst>
              <a:gd name="adj" fmla="val 15385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197510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StringIndexer</a:t>
            </a:r>
            <a:endParaRPr kumimoji="0" lang="en-US" sz="7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377440" y="1773936"/>
            <a:ext cx="1060704" cy="713232"/>
          </a:xfrm>
          <a:prstGeom prst="roundRect">
            <a:avLst>
              <a:gd name="adj" fmla="val 15385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14016" y="197510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OneHotEncoder</a:t>
            </a:r>
            <a:endParaRPr kumimoji="0" lang="en-US" sz="7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977640" y="1773936"/>
            <a:ext cx="1060704" cy="713232"/>
          </a:xfrm>
          <a:prstGeom prst="roundRect">
            <a:avLst>
              <a:gd name="adj" fmla="val 15385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14216" y="197510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VectorAssembler</a:t>
            </a:r>
            <a:endParaRPr kumimoji="0" lang="en-US" sz="7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577840" y="1773936"/>
            <a:ext cx="1060704" cy="713232"/>
          </a:xfrm>
          <a:prstGeom prst="roundRect">
            <a:avLst>
              <a:gd name="adj" fmla="val 15385"/>
            </a:avLst>
          </a:prstGeom>
          <a:solidFill>
            <a:srgbClr val="0B2F49"/>
          </a:solidFill>
          <a:ln w="12700">
            <a:solidFill>
              <a:srgbClr val="0B2F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197510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RandomForest</a:t>
            </a:r>
            <a:endParaRPr kumimoji="0" lang="en-US" sz="7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178040" y="1773936"/>
            <a:ext cx="1060704" cy="713232"/>
          </a:xfrm>
          <a:prstGeom prst="roundRect">
            <a:avLst>
              <a:gd name="adj" fmla="val 15385"/>
            </a:avLst>
          </a:prstGeom>
          <a:solidFill>
            <a:srgbClr val="E8F1F7"/>
          </a:solidFill>
          <a:ln w="12700">
            <a:solidFill>
              <a:srgbClr val="D9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14616" y="197510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Evaluation</a:t>
            </a:r>
            <a:endParaRPr kumimoji="0" lang="en-US" sz="7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22960" y="288036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E7F0"/>
            </a:solidFill>
            <a:prstDash val="solid"/>
          </a:ln>
        </p:spPr>
      </p:sp>
      <p:pic>
        <p:nvPicPr>
          <p:cNvPr id="24" name="Image 0" descr="/mnt/data/1108760d-68b2-4013-9d27-bfd36af589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005276"/>
            <a:ext cx="3904488" cy="618849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412480" y="1298447"/>
            <a:ext cx="2788920" cy="1188719"/>
          </a:xfrm>
          <a:prstGeom prst="roundRect">
            <a:avLst>
              <a:gd name="adj" fmla="val 9836"/>
            </a:avLst>
          </a:prstGeom>
          <a:solidFill>
            <a:srgbClr val="EAF3F5"/>
          </a:solidFill>
          <a:ln w="12700">
            <a:solidFill>
              <a:srgbClr val="EAF3F5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77072" y="1426464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Big Data insight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577072" y="1700784"/>
            <a:ext cx="245973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Η χρήση PySpark δείχνει ότι η ίδια μεθοδολογία μπορεί να κλιμακωθεί σε μεγαλύτερα τραπεζικά δεδομένα.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212080" y="28529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B2F4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Τελικά συμπεράσματα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230368" y="3310128"/>
            <a:ext cx="608076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3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Το dataset είναι imbalanced, άρα το Accuracy δεν αρκεί.</a:t>
            </a:r>
            <a:endParaRPr kumimoji="0" lang="en-US" sz="14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3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Το Decision Tree είχε την καλύτερη ισορροπία με βάση F1-score.</a:t>
            </a:r>
            <a:endParaRPr kumimoji="0" lang="en-US" sz="14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3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Το clustering ανέδειξε ομάδες πελατών με διαφορετικό subscription rate.</a:t>
            </a:r>
            <a:endParaRPr kumimoji="0" lang="en-US" sz="14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30" b="0" i="0" u="none" strike="noStrike" kern="1200" cap="none" spc="0" normalizeH="0" baseline="0" noProof="0" dirty="0">
                <a:ln>
                  <a:noFill/>
                </a:ln>
                <a:solidFill>
                  <a:srgbClr val="16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Η ανάλυση βοηθά σε πιο στοχευμένες τραπεζικές καμπάνιες.</a:t>
            </a:r>
            <a:endParaRPr kumimoji="0" lang="en-US" sz="14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912</Words>
  <Application>Microsoft Office PowerPoint</Application>
  <PresentationFormat>Widescreen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banana gamer</dc:creator>
  <cp:lastModifiedBy>banana gamer</cp:lastModifiedBy>
  <cp:revision>5</cp:revision>
  <dcterms:created xsi:type="dcterms:W3CDTF">2026-06-12T11:25:12Z</dcterms:created>
  <dcterms:modified xsi:type="dcterms:W3CDTF">2026-06-12T11:29:53Z</dcterms:modified>
</cp:coreProperties>
</file>